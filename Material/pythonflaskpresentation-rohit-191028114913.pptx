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Inconsolata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7.xml"/><Relationship Id="rId22" Type="http://schemas.openxmlformats.org/officeDocument/2006/relationships/font" Target="fonts/Inconsolata-bold.fntdata"/><Relationship Id="rId10" Type="http://schemas.openxmlformats.org/officeDocument/2006/relationships/slide" Target="slides/slide6.xml"/><Relationship Id="rId21" Type="http://schemas.openxmlformats.org/officeDocument/2006/relationships/font" Target="fonts/Inconsolata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oboto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Roboto-italic.fntdata"/><Relationship Id="rId6" Type="http://schemas.openxmlformats.org/officeDocument/2006/relationships/slide" Target="slides/slide2.xml"/><Relationship Id="rId18" Type="http://schemas.openxmlformats.org/officeDocument/2006/relationships/font" Target="fonts/Robo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64160400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64160400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That’s really ALL a web application is doing — taking requests from a client, and giving back appropriate responses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63e3ae454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63e3ae454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64160400a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64160400a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64160400a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64160400a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64160400a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64160400a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64160400a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64160400a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you see?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64160400ad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64160400a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64160400a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64160400a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64160400a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64160400a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64160400ad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64160400a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64160400ad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64160400a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localhost:5000/" TargetMode="External"/><Relationship Id="rId4" Type="http://schemas.openxmlformats.org/officeDocument/2006/relationships/hyperlink" Target="http://localhost:5000/" TargetMode="External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palletsprojects.com/p/flask" TargetMode="External"/><Relationship Id="rId4" Type="http://schemas.openxmlformats.org/officeDocument/2006/relationships/hyperlink" Target="https://blog.miguelgrinberg.com/post/the-flask-mega-tutorial-part-i-hello-world" TargetMode="External"/><Relationship Id="rId5" Type="http://schemas.openxmlformats.org/officeDocument/2006/relationships/hyperlink" Target="http://exploreflask.com/en/latest" TargetMode="External"/><Relationship Id="rId6" Type="http://schemas.openxmlformats.org/officeDocument/2006/relationships/hyperlink" Target="https://www.fullstackpython.com/flask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268175" y="2150850"/>
            <a:ext cx="5564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Introduction to Flask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400" y="1648725"/>
            <a:ext cx="2953680" cy="184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Framework for building web applications in Python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3462" y="2158956"/>
            <a:ext cx="2970026" cy="185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630513" y="2225475"/>
            <a:ext cx="1890900" cy="1323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 world</a:t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2860303" y="2225475"/>
            <a:ext cx="2905800" cy="43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nconsolata"/>
                <a:ea typeface="Inconsolata"/>
                <a:cs typeface="Inconsolata"/>
                <a:sym typeface="Inconsolata"/>
              </a:rPr>
              <a:t>GET https://myfantasticsite.com</a:t>
            </a:r>
            <a:endParaRPr sz="10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2194600" y="1295000"/>
            <a:ext cx="2038800" cy="572700"/>
          </a:xfrm>
          <a:prstGeom prst="wedgeRoundRectCallout">
            <a:avLst>
              <a:gd fmla="val -45420" name="adj1"/>
              <a:gd fmla="val 89296" name="adj2"/>
              <a:gd fmla="val 0" name="adj3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Can you give me the homepage for </a:t>
            </a:r>
            <a:r>
              <a:rPr b="1" lang="en" sz="1000">
                <a:latin typeface="Roboto"/>
                <a:ea typeface="Roboto"/>
                <a:cs typeface="Roboto"/>
                <a:sym typeface="Roboto"/>
              </a:rPr>
              <a:t>myfantasticsite.com</a:t>
            </a:r>
            <a:r>
              <a:rPr lang="en" sz="1000">
                <a:latin typeface="Roboto"/>
                <a:ea typeface="Roboto"/>
                <a:cs typeface="Roboto"/>
                <a:sym typeface="Roboto"/>
              </a:rPr>
              <a:t>?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4"/>
          <p:cNvSpPr/>
          <p:nvPr/>
        </p:nvSpPr>
        <p:spPr>
          <a:xfrm flipH="1">
            <a:off x="2860303" y="3112875"/>
            <a:ext cx="2905800" cy="43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6133563" y="1295000"/>
            <a:ext cx="1789800" cy="435600"/>
          </a:xfrm>
          <a:prstGeom prst="wedgeRoundRectCallout">
            <a:avLst>
              <a:gd fmla="val -4017" name="adj1"/>
              <a:gd fmla="val 101085" name="adj2"/>
              <a:gd fmla="val 0" name="adj3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Here you go!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155550" y="3470500"/>
            <a:ext cx="2038800" cy="11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&lt;!DOCTYPE html&gt;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&lt;html&gt;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&lt;body&gt;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&lt;h3&gt;</a:t>
            </a: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Hello world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&lt;/h3&gt;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&lt;/body&gt;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&lt;/html&gt;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Inconsolata"/>
              <a:ea typeface="Inconsolata"/>
              <a:cs typeface="Inconsolata"/>
              <a:sym typeface="Inconsolata"/>
            </a:endParaRPr>
          </a:p>
        </p:txBody>
      </p:sp>
      <p:cxnSp>
        <p:nvCxnSpPr>
          <p:cNvPr id="68" name="Google Shape;68;p14"/>
          <p:cNvCxnSpPr/>
          <p:nvPr/>
        </p:nvCxnSpPr>
        <p:spPr>
          <a:xfrm>
            <a:off x="5439200" y="1221675"/>
            <a:ext cx="15600" cy="3633900"/>
          </a:xfrm>
          <a:prstGeom prst="straightConnector1">
            <a:avLst/>
          </a:prstGeom>
          <a:noFill/>
          <a:ln cap="flat" cmpd="sng" w="2857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9" name="Google Shape;69;p14"/>
          <p:cNvSpPr/>
          <p:nvPr/>
        </p:nvSpPr>
        <p:spPr>
          <a:xfrm>
            <a:off x="716175" y="3624675"/>
            <a:ext cx="1719600" cy="2445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The browser (client)</a:t>
            </a:r>
            <a:endParaRPr b="1" sz="10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6293175" y="3770700"/>
            <a:ext cx="1962900" cy="2445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The web application (server)</a:t>
            </a:r>
            <a:endParaRPr b="1" sz="10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Before writing a Flask application . . 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152475"/>
            <a:ext cx="8520600" cy="36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Install Python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○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Python comes with a package manager called </a:t>
            </a:r>
            <a:r>
              <a:rPr lang="en" sz="2000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pip</a:t>
            </a:r>
            <a:endParaRPr sz="2000">
              <a:solidFill>
                <a:srgbClr val="0000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Install </a:t>
            </a:r>
            <a:r>
              <a:rPr lang="en" sz="2000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virtualenv</a:t>
            </a:r>
            <a:endParaRPr sz="2000">
              <a:solidFill>
                <a:srgbClr val="0000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consolata"/>
              <a:buChar char="○"/>
            </a:pPr>
            <a:r>
              <a:rPr lang="en" sz="2000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pip install virtualenv</a:t>
            </a:r>
            <a:endParaRPr sz="2000">
              <a:solidFill>
                <a:srgbClr val="0000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Create a directory for your web application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consolata"/>
              <a:buChar char="○"/>
            </a:pPr>
            <a:r>
              <a:rPr lang="en" sz="20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mkdir </a:t>
            </a:r>
            <a:r>
              <a:rPr lang="en" sz="2000">
                <a:solidFill>
                  <a:srgbClr val="CC0000"/>
                </a:solidFill>
                <a:latin typeface="Inconsolata"/>
                <a:ea typeface="Inconsolata"/>
                <a:cs typeface="Inconsolata"/>
                <a:sym typeface="Inconsolata"/>
              </a:rPr>
              <a:t>hello</a:t>
            </a:r>
            <a:endParaRPr sz="2000">
              <a:solidFill>
                <a:srgbClr val="FF00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Activate </a:t>
            </a:r>
            <a:r>
              <a:rPr lang="en" sz="20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virtualenv</a:t>
            </a: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inside</a:t>
            </a: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your application directory</a:t>
            </a:r>
            <a:endParaRPr sz="2000">
              <a:solidFill>
                <a:schemeClr val="dk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consolata"/>
              <a:buChar char="○"/>
            </a:pPr>
            <a:r>
              <a:rPr lang="en" sz="20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python -m venv </a:t>
            </a:r>
            <a:r>
              <a:rPr lang="en" sz="2000">
                <a:solidFill>
                  <a:srgbClr val="CC0000"/>
                </a:solidFill>
                <a:latin typeface="Inconsolata"/>
                <a:ea typeface="Inconsolata"/>
                <a:cs typeface="Inconsolata"/>
                <a:sym typeface="Inconsolata"/>
              </a:rPr>
              <a:t>venv</a:t>
            </a:r>
            <a:endParaRPr sz="2000">
              <a:solidFill>
                <a:srgbClr val="CC00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2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Before writing a Flask application . . 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200" y="1053400"/>
            <a:ext cx="7452308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p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ip install flask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850" y="1053400"/>
            <a:ext cx="7452308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riting your first Flask 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6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Create a file called </a:t>
            </a:r>
            <a:r>
              <a:rPr lang="en" sz="2000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main.py</a:t>
            </a: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in your project directory . . .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. . and edit it in your favorite text editor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2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879300" y="2365025"/>
            <a:ext cx="7330200" cy="21165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FF"/>
                </a:solidFill>
                <a:latin typeface="Inconsolata"/>
                <a:ea typeface="Inconsolata"/>
                <a:cs typeface="Inconsolata"/>
                <a:sym typeface="Inconsolata"/>
              </a:rPr>
              <a:t>f</a:t>
            </a:r>
            <a:r>
              <a:rPr lang="en" sz="2000">
                <a:solidFill>
                  <a:srgbClr val="0000FF"/>
                </a:solidFill>
                <a:latin typeface="Inconsolata"/>
                <a:ea typeface="Inconsolata"/>
                <a:cs typeface="Inconsolata"/>
                <a:sym typeface="Inconsolata"/>
              </a:rPr>
              <a:t>rom</a:t>
            </a:r>
            <a:r>
              <a:rPr lang="en" sz="20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 flask </a:t>
            </a:r>
            <a:r>
              <a:rPr lang="en" sz="2000">
                <a:solidFill>
                  <a:srgbClr val="0000FF"/>
                </a:solidFill>
                <a:latin typeface="Inconsolata"/>
                <a:ea typeface="Inconsolata"/>
                <a:cs typeface="Inconsolata"/>
                <a:sym typeface="Inconsolata"/>
              </a:rPr>
              <a:t>import</a:t>
            </a:r>
            <a:r>
              <a:rPr lang="en" sz="20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 Flask</a:t>
            </a:r>
            <a:endParaRPr sz="2000">
              <a:solidFill>
                <a:schemeClr val="dk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app = Flask(__name__)</a:t>
            </a:r>
            <a:endParaRPr sz="2000">
              <a:solidFill>
                <a:schemeClr val="dk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app.run(debug=</a:t>
            </a:r>
            <a:r>
              <a:rPr lang="en" sz="2000">
                <a:solidFill>
                  <a:srgbClr val="0000FF"/>
                </a:solidFill>
                <a:latin typeface="Inconsolata"/>
                <a:ea typeface="Inconsolata"/>
                <a:cs typeface="Inconsolata"/>
                <a:sym typeface="Inconsolata"/>
              </a:rPr>
              <a:t>True</a:t>
            </a:r>
            <a:r>
              <a:rPr lang="en" sz="20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)</a:t>
            </a:r>
            <a:endParaRPr sz="2000">
              <a:solidFill>
                <a:schemeClr val="dk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Running your Flask 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520600" cy="37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Run </a:t>
            </a:r>
            <a:r>
              <a:rPr lang="en" sz="2000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main.py</a:t>
            </a: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and visit </a:t>
            </a:r>
            <a:r>
              <a:rPr b="1" lang="en" sz="2000" u="sng">
                <a:solidFill>
                  <a:schemeClr val="hlink"/>
                </a:solidFill>
                <a:latin typeface="Inconsolata"/>
                <a:ea typeface="Inconsolata"/>
                <a:cs typeface="Inconsolata"/>
                <a:sym typeface="Inconsolata"/>
                <a:hlinkClick r:id="rId3"/>
              </a:rPr>
              <a:t>http://localhost:5000</a:t>
            </a:r>
            <a:r>
              <a:rPr b="1" lang="en" sz="2000" u="sng">
                <a:solidFill>
                  <a:srgbClr val="FF0000"/>
                </a:solidFill>
                <a:latin typeface="Inconsolata"/>
                <a:ea typeface="Inconsolata"/>
                <a:cs typeface="Inconsolata"/>
                <a:sym typeface="Inconsolata"/>
                <a:hlinkClick r:id="rId4"/>
              </a:rPr>
              <a:t>/</a:t>
            </a: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in your browser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Note the </a:t>
            </a:r>
            <a:r>
              <a:rPr b="1" lang="en" sz="2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That’s the </a:t>
            </a:r>
            <a:r>
              <a:rPr b="1"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route</a:t>
            </a:r>
            <a:endParaRPr b="1"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2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188" y="2164738"/>
            <a:ext cx="7667625" cy="275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Defining routes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520600" cy="36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web server is running at </a:t>
            </a:r>
            <a:r>
              <a:rPr b="1" lang="en" sz="2000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http://localhost:5000</a:t>
            </a: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but you didn’t tell it what to return when someone visits the </a:t>
            </a:r>
            <a:r>
              <a:rPr b="1" lang="en" sz="2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route</a:t>
            </a:r>
            <a:endParaRPr b="1"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 do that, you have to add a function for the </a:t>
            </a:r>
            <a:r>
              <a:rPr b="1" lang="en" sz="2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route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Flask uses Python </a:t>
            </a:r>
            <a:r>
              <a:rPr b="1"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decorators</a:t>
            </a: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to define routes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There can be any number of routes in your application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2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Defining routes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9263" y="1017725"/>
            <a:ext cx="680548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Any questions so far?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Quiz time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6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Redefine the </a:t>
            </a:r>
            <a:r>
              <a:rPr b="1"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route, so it says </a:t>
            </a:r>
            <a:r>
              <a:rPr b="1" lang="en" sz="2000">
                <a:solidFill>
                  <a:srgbClr val="274E13"/>
                </a:solidFill>
                <a:latin typeface="Inconsolata"/>
                <a:ea typeface="Inconsolata"/>
                <a:cs typeface="Inconsolata"/>
                <a:sym typeface="Inconsolata"/>
              </a:rPr>
              <a:t>Welcome to my fantastic application!</a:t>
            </a:r>
            <a:endParaRPr b="1" sz="2000">
              <a:solidFill>
                <a:srgbClr val="274E13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Define a </a:t>
            </a:r>
            <a:r>
              <a:rPr b="1"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new</a:t>
            </a: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route that says </a:t>
            </a:r>
            <a:r>
              <a:rPr b="1" lang="en" sz="2000">
                <a:solidFill>
                  <a:srgbClr val="274E13"/>
                </a:solidFill>
                <a:latin typeface="Inconsolata"/>
                <a:ea typeface="Inconsolata"/>
                <a:cs typeface="Inconsolata"/>
                <a:sym typeface="Inconsolata"/>
              </a:rPr>
              <a:t>Hello world</a:t>
            </a:r>
            <a:endParaRPr b="1" sz="2000">
              <a:solidFill>
                <a:srgbClr val="0000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Routes don’t have to return only single line strings. Define another route that returns a proper HTML response that contains the </a:t>
            </a:r>
            <a:r>
              <a:rPr b="1" lang="en" sz="2000">
                <a:solidFill>
                  <a:srgbClr val="274E13"/>
                </a:solidFill>
                <a:latin typeface="Inconsolata"/>
                <a:ea typeface="Inconsolata"/>
                <a:cs typeface="Inconsolata"/>
                <a:sym typeface="Inconsolata"/>
              </a:rPr>
              <a:t>Hello world</a:t>
            </a: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text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Resources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152475"/>
            <a:ext cx="8520600" cy="36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Flask documentation — </a:t>
            </a:r>
            <a:r>
              <a:rPr lang="en" sz="20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https://palletsprojects.com/p/flask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Flask Mega Tutorial — </a:t>
            </a:r>
            <a:r>
              <a:rPr lang="en" sz="20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https://blog.miguelgrinberg.com/post/the-flask-mega-tutorial-part-i-hello-world</a:t>
            </a: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⭐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●"/>
            </a:pPr>
            <a:r>
              <a:rPr i="1"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Explore Flask</a:t>
            </a: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ebook — </a:t>
            </a:r>
            <a:r>
              <a:rPr lang="en" sz="20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http://exploreflask.com/en/latest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More Flask resources — </a:t>
            </a:r>
            <a:r>
              <a:rPr lang="en" sz="20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https://www.fullstackpython.com/flask.html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